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496" r:id="rId2"/>
    <p:sldId id="497" r:id="rId3"/>
  </p:sldIdLst>
  <p:sldSz cx="10080625" cy="7559675"/>
  <p:notesSz cx="7772400" cy="10058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66"/>
    <a:srgbClr val="CC00CC"/>
    <a:srgbClr val="E28C05"/>
    <a:srgbClr val="F79709"/>
    <a:srgbClr val="006663"/>
    <a:srgbClr val="176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8" autoAdjust="0"/>
    <p:restoredTop sz="94660" autoAdjust="0"/>
  </p:normalViewPr>
  <p:slideViewPr>
    <p:cSldViewPr>
      <p:cViewPr varScale="1">
        <p:scale>
          <a:sx n="49" d="100"/>
          <a:sy n="49" d="100"/>
        </p:scale>
        <p:origin x="1133" y="5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2682" y="-12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8A7BB-2BE1-407A-BB6C-46C4549501F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E612-1277-4808-B889-FD4B3A5FC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458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AutoShape 1"/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>
              <a:defRPr/>
            </a:pPr>
            <a:endParaRPr lang="pt-BR" altLang="en-US"/>
          </a:p>
        </p:txBody>
      </p:sp>
      <p:sp>
        <p:nvSpPr>
          <p:cNvPr id="38915" name="AutoShape 2"/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>
              <a:defRPr/>
            </a:pPr>
            <a:endParaRPr lang="pt-BR" altLang="en-US"/>
          </a:p>
        </p:txBody>
      </p:sp>
      <p:sp>
        <p:nvSpPr>
          <p:cNvPr id="38916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87500" y="1006475"/>
            <a:ext cx="4594225" cy="34464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2" name="Rectangle 4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85863" y="4787900"/>
            <a:ext cx="5405437" cy="382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altLang="en-US" noProof="0"/>
          </a:p>
        </p:txBody>
      </p:sp>
    </p:spTree>
    <p:extLst>
      <p:ext uri="{BB962C8B-B14F-4D97-AF65-F5344CB8AC3E}">
        <p14:creationId xmlns:p14="http://schemas.microsoft.com/office/powerpoint/2010/main" val="24010127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 userDrawn="1"/>
        </p:nvSpPr>
        <p:spPr>
          <a:xfrm>
            <a:off x="-72257" y="96491"/>
            <a:ext cx="10152881" cy="746318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edondar Retângulo em um Canto Diagonal 13"/>
          <p:cNvSpPr/>
          <p:nvPr userDrawn="1"/>
        </p:nvSpPr>
        <p:spPr>
          <a:xfrm flipV="1">
            <a:off x="-72256" y="1979637"/>
            <a:ext cx="8635993" cy="5580038"/>
          </a:xfrm>
          <a:prstGeom prst="round2Diag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 userDrawn="1"/>
        </p:nvSpPr>
        <p:spPr>
          <a:xfrm>
            <a:off x="-72256" y="1"/>
            <a:ext cx="10153127" cy="5273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 userDrawn="1">
            <p:ph type="ctrTitle"/>
          </p:nvPr>
        </p:nvSpPr>
        <p:spPr>
          <a:xfrm>
            <a:off x="287784" y="533150"/>
            <a:ext cx="9505056" cy="1446487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 userDrawn="1">
            <p:ph type="subTitle" idx="1"/>
          </p:nvPr>
        </p:nvSpPr>
        <p:spPr>
          <a:xfrm>
            <a:off x="287784" y="2411685"/>
            <a:ext cx="8172822" cy="1931917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3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pic>
        <p:nvPicPr>
          <p:cNvPr id="78851" name="Picture 3" descr="E:\Usuarios\Elpellini\Desktop\SEMOP\MakingOf\minerva.jp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09" y="6084093"/>
            <a:ext cx="1081895" cy="111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61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96491"/>
            <a:ext cx="10080872" cy="75242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edondar Retângulo em um Canto Diagonal 10"/>
          <p:cNvSpPr/>
          <p:nvPr userDrawn="1"/>
        </p:nvSpPr>
        <p:spPr>
          <a:xfrm flipV="1">
            <a:off x="0" y="780009"/>
            <a:ext cx="9787873" cy="6840760"/>
          </a:xfrm>
          <a:prstGeom prst="round2DiagRect">
            <a:avLst>
              <a:gd name="adj1" fmla="val 13669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 userDrawn="1"/>
        </p:nvSpPr>
        <p:spPr>
          <a:xfrm>
            <a:off x="0" y="6588149"/>
            <a:ext cx="9719458" cy="10326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tângulo 8"/>
          <p:cNvSpPr/>
          <p:nvPr userDrawn="1"/>
        </p:nvSpPr>
        <p:spPr>
          <a:xfrm>
            <a:off x="0" y="1"/>
            <a:ext cx="10080871" cy="527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3" descr="E:\Usuarios\Elpellini\Desktop\SEMOP\MakingOf\minerva.jp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0" y="53801"/>
            <a:ext cx="405584" cy="41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 userDrawn="1">
            <p:ph type="title"/>
          </p:nvPr>
        </p:nvSpPr>
        <p:spPr>
          <a:xfrm>
            <a:off x="358650" y="780009"/>
            <a:ext cx="9074150" cy="983604"/>
          </a:xfrm>
        </p:spPr>
        <p:txBody>
          <a:bodyPr/>
          <a:lstStyle>
            <a:lvl1pPr algn="l">
              <a:defRPr sz="40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 userDrawn="1">
            <p:ph idx="1"/>
          </p:nvPr>
        </p:nvSpPr>
        <p:spPr>
          <a:xfrm>
            <a:off x="359792" y="1907629"/>
            <a:ext cx="9074150" cy="4733606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4" name="Retângulo 13"/>
          <p:cNvSpPr/>
          <p:nvPr userDrawn="1"/>
        </p:nvSpPr>
        <p:spPr>
          <a:xfrm>
            <a:off x="-246" y="527399"/>
            <a:ext cx="1008087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spaço Reservado para Número de Slide 5"/>
          <p:cNvSpPr txBox="1">
            <a:spLocks/>
          </p:cNvSpPr>
          <p:nvPr userDrawn="1"/>
        </p:nvSpPr>
        <p:spPr>
          <a:xfrm rot="16200000">
            <a:off x="9228083" y="6743472"/>
            <a:ext cx="1412578" cy="292999"/>
          </a:xfrm>
          <a:prstGeom prst="rect">
            <a:avLst/>
          </a:prstGeom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>
              <a:defRPr/>
            </a:pPr>
            <a:fld id="{517131AB-5B2B-4F2E-A2EF-D59A8F730202}" type="slidenum">
              <a:rPr lang="en-US" altLang="en-US" sz="1200" b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‹#›</a:t>
            </a:fld>
            <a:endParaRPr lang="en-US" altLang="en-US" sz="1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795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1"/>
            <a:ext cx="10080871" cy="527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3" descr="E:\Usuarios\Elpellini\Desktop\SEMOP\MakingOf\minerva.jp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0" y="53801"/>
            <a:ext cx="405584" cy="41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 userDrawn="1">
            <p:ph type="title"/>
          </p:nvPr>
        </p:nvSpPr>
        <p:spPr>
          <a:xfrm>
            <a:off x="358650" y="780009"/>
            <a:ext cx="9074150" cy="983604"/>
          </a:xfrm>
        </p:spPr>
        <p:txBody>
          <a:bodyPr/>
          <a:lstStyle>
            <a:lvl1pPr algn="l">
              <a:defRPr sz="40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 userDrawn="1">
            <p:ph idx="1"/>
          </p:nvPr>
        </p:nvSpPr>
        <p:spPr>
          <a:xfrm>
            <a:off x="359792" y="1907629"/>
            <a:ext cx="9074150" cy="4733606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4" name="Retângulo 13"/>
          <p:cNvSpPr/>
          <p:nvPr userDrawn="1"/>
        </p:nvSpPr>
        <p:spPr>
          <a:xfrm>
            <a:off x="-246" y="527399"/>
            <a:ext cx="1008087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spaço Reservado para Número de Slide 5"/>
          <p:cNvSpPr txBox="1">
            <a:spLocks/>
          </p:cNvSpPr>
          <p:nvPr userDrawn="1"/>
        </p:nvSpPr>
        <p:spPr>
          <a:xfrm rot="16200000">
            <a:off x="9228083" y="6743472"/>
            <a:ext cx="1412578" cy="292999"/>
          </a:xfrm>
          <a:prstGeom prst="rect">
            <a:avLst/>
          </a:prstGeom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>
              <a:defRPr/>
            </a:pPr>
            <a:fld id="{517131AB-5B2B-4F2E-A2EF-D59A8F730202}" type="slidenum">
              <a:rPr lang="en-US" altLang="en-US" sz="1200" b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‹#›</a:t>
            </a:fld>
            <a:endParaRPr lang="en-US" altLang="en-US" sz="1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317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503238" y="303213"/>
            <a:ext cx="9074150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503808" y="1651723"/>
            <a:ext cx="9074150" cy="498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83" tIns="50392" rIns="100783" bIns="503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43768" y="7020197"/>
            <a:ext cx="2352675" cy="401638"/>
          </a:xfrm>
          <a:prstGeom prst="rect">
            <a:avLst/>
          </a:prstGeom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>
            <a:lvl1pPr>
              <a:defRPr sz="13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8108D8C-83F9-4384-8997-A9B5AFDC0E20}" type="datetime1">
              <a:rPr lang="en-US" altLang="en-US"/>
              <a:pPr>
                <a:defRPr/>
              </a:pPr>
              <a:t>5/25/2026</a:t>
            </a:fld>
            <a:endParaRPr lang="en-US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7569794" y="7020197"/>
            <a:ext cx="2352675" cy="401638"/>
          </a:xfrm>
          <a:prstGeom prst="rect">
            <a:avLst/>
          </a:prstGeom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>
            <a:lvl1pPr algn="r">
              <a:defRPr sz="13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E1A4ABC-DAF9-41AB-80B4-8546B932D6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54" r:id="rId2"/>
    <p:sldLayoutId id="2147483855" r:id="rId3"/>
  </p:sldLayoutIdLst>
  <p:txStyles>
    <p:titleStyle>
      <a:lvl1pPr algn="ctr" defTabSz="1006475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2pPr>
      <a:lvl3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3pPr>
      <a:lvl4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4pPr>
      <a:lvl5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5pPr>
      <a:lvl6pPr marL="4572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6pPr>
      <a:lvl7pPr marL="9144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7pPr>
      <a:lvl8pPr marL="13716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8pPr>
      <a:lvl9pPr marL="18288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9pPr>
    </p:titleStyle>
    <p:bodyStyle>
      <a:lvl1pPr marL="377825" indent="-377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7563" indent="-3143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3713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6950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557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476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395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314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2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83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75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67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59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51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3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354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792" y="1907629"/>
            <a:ext cx="9505056" cy="4733606"/>
          </a:xfrm>
        </p:spPr>
        <p:txBody>
          <a:bodyPr/>
          <a:lstStyle/>
          <a:p>
            <a:r>
              <a:rPr lang="pt-BR" dirty="0"/>
              <a:t>Escreva um programa para fazer o LED verde piscar com 2 segundo de período usando registradores</a:t>
            </a:r>
          </a:p>
          <a:p>
            <a:pPr lvl="1"/>
            <a:r>
              <a:rPr lang="pt-BR" dirty="0"/>
              <a:t>Sequência do programa</a:t>
            </a:r>
          </a:p>
          <a:p>
            <a:pPr lvl="2"/>
            <a:r>
              <a:rPr lang="pt-BR" dirty="0"/>
              <a:t>(1) Habilitar </a:t>
            </a:r>
            <a:r>
              <a:rPr lang="pt-BR" dirty="0" err="1"/>
              <a:t>clock</a:t>
            </a:r>
            <a:r>
              <a:rPr lang="pt-BR" dirty="0"/>
              <a:t> da porta B;</a:t>
            </a:r>
          </a:p>
          <a:p>
            <a:pPr lvl="2"/>
            <a:r>
              <a:rPr lang="pt-BR" dirty="0"/>
              <a:t>(2) Configurar Pino 19 (Pin </a:t>
            </a:r>
            <a:r>
              <a:rPr lang="pt-BR" dirty="0" err="1"/>
              <a:t>Control</a:t>
            </a:r>
            <a:r>
              <a:rPr lang="pt-BR" dirty="0"/>
              <a:t> </a:t>
            </a:r>
            <a:r>
              <a:rPr lang="pt-BR" dirty="0" err="1"/>
              <a:t>Register</a:t>
            </a:r>
            <a:r>
              <a:rPr lang="pt-BR" dirty="0"/>
              <a:t>);</a:t>
            </a:r>
          </a:p>
          <a:p>
            <a:pPr lvl="2"/>
            <a:r>
              <a:rPr lang="pt-BR" dirty="0"/>
              <a:t>(3) </a:t>
            </a:r>
            <a:r>
              <a:rPr lang="pt-BR" dirty="0" err="1"/>
              <a:t>Setar</a:t>
            </a:r>
            <a:r>
              <a:rPr lang="pt-BR" dirty="0"/>
              <a:t> a direção do Pino;</a:t>
            </a:r>
          </a:p>
          <a:p>
            <a:pPr lvl="2"/>
            <a:r>
              <a:rPr lang="pt-BR" dirty="0"/>
              <a:t>(4) Habilitar saída;</a:t>
            </a:r>
          </a:p>
          <a:p>
            <a:pPr lvl="2"/>
            <a:r>
              <a:rPr lang="pt-BR" dirty="0"/>
              <a:t>(5) Função de espera;</a:t>
            </a:r>
          </a:p>
          <a:p>
            <a:pPr lvl="2"/>
            <a:r>
              <a:rPr lang="pt-BR" dirty="0"/>
              <a:t>(6) Desabilitar saída;</a:t>
            </a:r>
          </a:p>
          <a:p>
            <a:pPr lvl="2"/>
            <a:r>
              <a:rPr lang="pt-BR" dirty="0"/>
              <a:t>(7) Função de espera;</a:t>
            </a:r>
          </a:p>
          <a:p>
            <a:pPr lvl="2"/>
            <a:r>
              <a:rPr lang="pt-BR" dirty="0"/>
              <a:t>Repetir passos (4)-(7).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701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Definir Endereço dos Registradores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58650" y="1645699"/>
            <a:ext cx="864210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>
              <a:spcBef>
                <a:spcPct val="0"/>
              </a:spcBef>
              <a:buNone/>
            </a:pPr>
            <a:r>
              <a:rPr lang="pt-BR" altLang="en-US" sz="2400" dirty="0">
                <a:solidFill>
                  <a:schemeClr val="tx1"/>
                </a:solidFill>
              </a:rPr>
              <a:t>Exemplo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indent="0" defTabSz="914400">
              <a:spcBef>
                <a:spcPct val="0"/>
              </a:spcBef>
              <a:buNone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0" indent="0" defTabSz="914400">
              <a:spcBef>
                <a:spcPct val="0"/>
              </a:spcBef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/* Define o </a:t>
            </a:r>
            <a:r>
              <a:rPr lang="en-US" altLang="en-US" sz="2400" dirty="0" err="1">
                <a:solidFill>
                  <a:schemeClr val="tx1"/>
                </a:solidFill>
              </a:rPr>
              <a:t>endereço</a:t>
            </a:r>
            <a:r>
              <a:rPr lang="en-US" altLang="en-US" sz="2400" dirty="0">
                <a:solidFill>
                  <a:schemeClr val="tx1"/>
                </a:solidFill>
              </a:rPr>
              <a:t> do </a:t>
            </a:r>
            <a:r>
              <a:rPr lang="en-US" altLang="en-US" sz="2400" dirty="0" err="1">
                <a:solidFill>
                  <a:schemeClr val="tx1"/>
                </a:solidFill>
              </a:rPr>
              <a:t>registrador</a:t>
            </a:r>
            <a:r>
              <a:rPr lang="en-US" altLang="en-US" sz="2400" dirty="0">
                <a:solidFill>
                  <a:schemeClr val="tx1"/>
                </a:solidFill>
              </a:rPr>
              <a:t> SIM_SCGC5 */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#define SIM_SCGC5 (*((volatile unsigned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*)0x40048038))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358650" y="2912780"/>
            <a:ext cx="9074150" cy="98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>
            <a:lvl1pPr algn="l" defTabSz="1006475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defTabSz="10064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34" charset="0"/>
              </a:defRPr>
            </a:lvl2pPr>
            <a:lvl3pPr algn="ctr" defTabSz="10064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34" charset="0"/>
              </a:defRPr>
            </a:lvl3pPr>
            <a:lvl4pPr algn="ctr" defTabSz="10064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34" charset="0"/>
              </a:defRPr>
            </a:lvl4pPr>
            <a:lvl5pPr algn="ctr" defTabSz="10064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1006475" rtl="0" fontAlgn="base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1006475" rtl="0" fontAlgn="base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1006475" rtl="0" fontAlgn="base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1006475" rtl="0" fontAlgn="base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3200" dirty="0"/>
              <a:t>Função de espera </a:t>
            </a:r>
            <a:endParaRPr lang="en-US" sz="3200" dirty="0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215776" y="3498256"/>
            <a:ext cx="950505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77825" indent="-377825" algn="l" defTabSz="100647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817563" indent="-314325" algn="l" defTabSz="100647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58888" indent="-250825" algn="l" defTabSz="100647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63713" indent="-250825" algn="l" defTabSz="100647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266950" indent="-250825" algn="l" defTabSz="100647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771557" indent="-251960" algn="l" defTabSz="10078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476" indent="-251960" algn="l" defTabSz="10078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395" indent="-251960" algn="l" defTabSz="10078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314" indent="-251960" algn="l" defTabSz="10078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pt-BR" altLang="en-US" sz="2000" dirty="0">
                <a:solidFill>
                  <a:schemeClr val="tx1"/>
                </a:solidFill>
              </a:rPr>
              <a:t>/* no </a:t>
            </a:r>
            <a:r>
              <a:rPr lang="pt-BR" altLang="en-US" sz="2000" dirty="0" err="1">
                <a:solidFill>
                  <a:schemeClr val="tx1"/>
                </a:solidFill>
              </a:rPr>
              <a:t>main</a:t>
            </a:r>
            <a:r>
              <a:rPr lang="pt-BR" altLang="en-US" sz="2000" dirty="0">
                <a:solidFill>
                  <a:schemeClr val="tx1"/>
                </a:solidFill>
              </a:rPr>
              <a:t> */</a:t>
            </a:r>
          </a:p>
          <a:p>
            <a:pPr marL="0" indent="0" defTabSz="914400">
              <a:spcBef>
                <a:spcPct val="0"/>
              </a:spcBef>
              <a:buNone/>
            </a:pPr>
            <a:r>
              <a:rPr lang="pt-BR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void</a:t>
            </a: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delayMs</a:t>
            </a: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pt-BR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n);</a:t>
            </a: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/* </a:t>
            </a:r>
            <a:r>
              <a:rPr lang="en-US" altLang="en-US" sz="2000" dirty="0" err="1">
                <a:solidFill>
                  <a:schemeClr val="tx1"/>
                </a:solidFill>
              </a:rPr>
              <a:t>Função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  <a:r>
              <a:rPr lang="en-US" altLang="en-US" sz="2000" dirty="0" err="1">
                <a:solidFill>
                  <a:schemeClr val="tx1"/>
                </a:solidFill>
              </a:rPr>
              <a:t>Espera</a:t>
            </a:r>
            <a:r>
              <a:rPr lang="en-US" altLang="en-US" sz="2000" dirty="0">
                <a:solidFill>
                  <a:schemeClr val="tx1"/>
                </a:solidFill>
              </a:rPr>
              <a:t> n </a:t>
            </a:r>
            <a:r>
              <a:rPr lang="en-US" altLang="en-US" sz="2000" dirty="0" err="1">
                <a:solidFill>
                  <a:schemeClr val="tx1"/>
                </a:solidFill>
              </a:rPr>
              <a:t>milisegundos</a:t>
            </a:r>
            <a:r>
              <a:rPr lang="en-US" altLang="en-US" sz="2000" dirty="0">
                <a:solidFill>
                  <a:schemeClr val="tx1"/>
                </a:solidFill>
              </a:rPr>
              <a:t> */</a:t>
            </a: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pt-BR" altLang="en-US" sz="2000" dirty="0">
                <a:solidFill>
                  <a:schemeClr val="tx1"/>
                </a:solidFill>
              </a:rPr>
              <a:t>/* esta função depende do </a:t>
            </a:r>
            <a:r>
              <a:rPr lang="pt-BR" altLang="en-US" sz="2000" dirty="0" err="1">
                <a:solidFill>
                  <a:schemeClr val="tx1"/>
                </a:solidFill>
              </a:rPr>
              <a:t>clock</a:t>
            </a:r>
            <a:r>
              <a:rPr lang="pt-BR" altLang="en-US" sz="2000" dirty="0">
                <a:solidFill>
                  <a:schemeClr val="tx1"/>
                </a:solidFill>
              </a:rPr>
              <a:t> default do </a:t>
            </a:r>
            <a:r>
              <a:rPr lang="pt-BR" altLang="en-US" sz="2000" dirty="0" err="1">
                <a:solidFill>
                  <a:schemeClr val="tx1"/>
                </a:solidFill>
              </a:rPr>
              <a:t>microcontrolador</a:t>
            </a:r>
            <a:r>
              <a:rPr lang="pt-BR" altLang="en-US" sz="2000" dirty="0">
                <a:solidFill>
                  <a:schemeClr val="tx1"/>
                </a:solidFill>
              </a:rPr>
              <a:t>. Para o KL25Z a frequência é 21 MHz aproximadamente. O valor do contador deverá ser ajustado para se conseguir o tempo de espera desejado. */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pt-BR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Void</a:t>
            </a: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delayMs</a:t>
            </a: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pt-BR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n) {</a:t>
            </a: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pt-BR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i;</a:t>
            </a: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pt-BR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j;</a:t>
            </a: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for (i = 0; i &lt; n; i++)</a:t>
            </a: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		for (j = 0; j &lt; 7000; j++) {}</a:t>
            </a:r>
          </a:p>
          <a:p>
            <a:pPr marL="0" indent="0" defTabSz="914400">
              <a:spcBef>
                <a:spcPct val="0"/>
              </a:spcBef>
              <a:buFont typeface="Arial" charset="0"/>
              <a:buNone/>
            </a:pPr>
            <a:r>
              <a:rPr lang="pt-BR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8087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30464</TotalTime>
  <Words>211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Unicode MS</vt:lpstr>
      <vt:lpstr>Calibri</vt:lpstr>
      <vt:lpstr>Times New Roman</vt:lpstr>
      <vt:lpstr>Tema do Office</vt:lpstr>
      <vt:lpstr>Atividade 3</vt:lpstr>
      <vt:lpstr>Definir Endereço dos Registradores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Recepção 2o ano Elétrica 2005 Apresentação do Departamento</dc:title>
  <dc:creator>Gustavo</dc:creator>
  <cp:keywords>PEA EPUSP</cp:keywords>
  <cp:lastModifiedBy>Gustavo Rehder</cp:lastModifiedBy>
  <cp:revision>1409</cp:revision>
  <cp:lastPrinted>2013-09-18T02:17:29Z</cp:lastPrinted>
  <dcterms:modified xsi:type="dcterms:W3CDTF">2026-05-25T23:39:47Z</dcterms:modified>
</cp:coreProperties>
</file>